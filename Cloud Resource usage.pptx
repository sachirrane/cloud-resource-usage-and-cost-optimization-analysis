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8a90b14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a8a90b14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8a90b14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a8a90b14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8a90b14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8a90b14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8a90b14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a8a90b1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8a90b14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8a90b14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a8a90b14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a8a90b14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8a90b14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a8a90b14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9098e4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a9098e4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9098e45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9098e45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9098e45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a9098e45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9098e45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a9098e45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9098e45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a9098e45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a9098e45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a9098e45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9098e45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9098e45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9098e45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9098e45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a9098e45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a9098e45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9098e45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a9098e45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9098e45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a9098e45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9098e45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a9098e45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9098e45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9098e45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76075" y="3533475"/>
            <a:ext cx="8404200" cy="15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Re</a:t>
            </a:r>
            <a:r>
              <a:rPr lang="en-GB" sz="5200">
                <a:latin typeface="Calibri"/>
                <a:ea typeface="Calibri"/>
                <a:cs typeface="Calibri"/>
                <a:sym typeface="Calibri"/>
              </a:rPr>
              <a:t>source Usa</a:t>
            </a:r>
            <a:r>
              <a:rPr lang="en-GB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 and Cost Opt</a:t>
            </a:r>
            <a:r>
              <a:rPr lang="en-GB" sz="5200">
                <a:latin typeface="Calibri"/>
                <a:ea typeface="Calibri"/>
                <a:cs typeface="Calibri"/>
                <a:sym typeface="Calibri"/>
              </a:rPr>
              <a:t>imi</a:t>
            </a:r>
            <a:r>
              <a:rPr lang="en-GB" sz="5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GB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ation</a:t>
            </a:r>
            <a:endParaRPr sz="5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83650" y="361100"/>
            <a:ext cx="8520600" cy="5727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Introduction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highlight>
                  <a:srgbClr val="000000"/>
                </a:highlight>
              </a:rPr>
              <a:t>Cloud Resource Usage and Cost Optimization Analysis</a:t>
            </a:r>
            <a:endParaRPr sz="21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highlight>
                  <a:srgbClr val="000000"/>
                </a:highlight>
              </a:rPr>
              <a:t>Cloud computing provides computing resources such as VMs, CPU, memory, storage, and network.</a:t>
            </a:r>
            <a:endParaRPr sz="21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highlight>
                  <a:srgbClr val="000000"/>
                </a:highlight>
              </a:rPr>
              <a:t>Organizations use cloud services from providers such as AWS, Azure, and Google Cloud.</a:t>
            </a:r>
            <a:endParaRPr sz="21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highlight>
                  <a:srgbClr val="000000"/>
                </a:highlight>
              </a:rPr>
              <a:t>Using more resources than required can increase cloud costs.</a:t>
            </a:r>
            <a:endParaRPr sz="21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highlight>
                  <a:srgbClr val="000000"/>
                </a:highlight>
              </a:rPr>
              <a:t>SQL can be used to analyze resource usage, compare costs, and identify underutilized resources.</a:t>
            </a:r>
            <a:endParaRPr sz="21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 sz="2100">
                <a:solidFill>
                  <a:schemeClr val="lt1"/>
                </a:solidFill>
                <a:highlight>
                  <a:srgbClr val="000000"/>
                </a:highlight>
              </a:rPr>
              <a:t>This project focuses on finding opportunities to reduce unnecessary cloud expenses.</a:t>
            </a:r>
            <a:endParaRPr sz="2100"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91825" y="63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431550"/>
            <a:ext cx="8520600" cy="28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●"/>
            </a:pPr>
            <a:r>
              <a:rPr lang="en-GB" sz="24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Cloud resources may be overused or underutilized.</a:t>
            </a:r>
            <a:endParaRPr sz="24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●"/>
            </a:pPr>
            <a:r>
              <a:rPr lang="en-GB" sz="24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Unnecessary usage can increase cloud costs.</a:t>
            </a:r>
            <a:endParaRPr sz="24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●"/>
            </a:pPr>
            <a:r>
              <a:rPr lang="en-GB" sz="24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It is important to identify high-cost and low-utilization resources.</a:t>
            </a:r>
            <a:endParaRPr sz="24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●"/>
            </a:pPr>
            <a:r>
              <a:rPr lang="en-GB" sz="24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SQL can help analyse these resources and find cost-saving opportunities.</a:t>
            </a:r>
            <a:endParaRPr sz="2400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Objectives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625" y="1455525"/>
            <a:ext cx="8520600" cy="31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lang="en-GB" sz="2300">
                <a:solidFill>
                  <a:schemeClr val="lt1"/>
                </a:solidFill>
                <a:highlight>
                  <a:schemeClr val="dk1"/>
                </a:highlight>
              </a:rPr>
              <a:t>Analyse cloud resource usage</a:t>
            </a:r>
            <a:endParaRPr sz="23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lang="en-GB" sz="2300">
                <a:solidFill>
                  <a:schemeClr val="lt1"/>
                </a:solidFill>
                <a:highlight>
                  <a:schemeClr val="dk1"/>
                </a:highlight>
              </a:rPr>
              <a:t>Compare cloud providers and regions</a:t>
            </a:r>
            <a:endParaRPr sz="23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lang="en-GB" sz="2300">
                <a:solidFill>
                  <a:schemeClr val="lt1"/>
                </a:solidFill>
                <a:highlight>
                  <a:schemeClr val="dk1"/>
                </a:highlight>
              </a:rPr>
              <a:t>Identify high-cost resources</a:t>
            </a:r>
            <a:endParaRPr sz="23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lang="en-GB" sz="2300">
                <a:solidFill>
                  <a:schemeClr val="lt1"/>
                </a:solidFill>
                <a:highlight>
                  <a:schemeClr val="dk1"/>
                </a:highlight>
              </a:rPr>
              <a:t>Find underutilized resources</a:t>
            </a:r>
            <a:endParaRPr sz="23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</a:pPr>
            <a:r>
              <a:rPr lang="en-GB" sz="2300">
                <a:solidFill>
                  <a:schemeClr val="lt1"/>
                </a:solidFill>
                <a:highlight>
                  <a:schemeClr val="dk1"/>
                </a:highlight>
              </a:rPr>
              <a:t>Suggest cost optimization opportunities</a:t>
            </a:r>
            <a:endParaRPr sz="23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10926" y="129800"/>
            <a:ext cx="3903600" cy="166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Dataset check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 flipH="1">
            <a:off x="151600" y="2228025"/>
            <a:ext cx="4045200" cy="117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➢"/>
            </a:pPr>
            <a:r>
              <a:rPr lang="en-GB" sz="1550">
                <a:solidFill>
                  <a:schemeClr val="lt1"/>
                </a:solidFill>
                <a:highlight>
                  <a:schemeClr val="dk1"/>
                </a:highlight>
              </a:rPr>
              <a:t>Database:Cloud Analysis</a:t>
            </a:r>
            <a:endParaRPr sz="15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➢"/>
            </a:pPr>
            <a:r>
              <a:rPr lang="en-GB" sz="1550">
                <a:solidFill>
                  <a:schemeClr val="lt1"/>
                </a:solidFill>
                <a:highlight>
                  <a:schemeClr val="dk1"/>
                </a:highlight>
              </a:rPr>
              <a:t>Total Records - 1000</a:t>
            </a:r>
            <a:endParaRPr sz="15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➢"/>
            </a:pPr>
            <a:r>
              <a:rPr lang="en-GB" sz="1550">
                <a:solidFill>
                  <a:schemeClr val="lt1"/>
                </a:solidFill>
                <a:highlight>
                  <a:schemeClr val="dk1"/>
                </a:highlight>
              </a:rPr>
              <a:t>Columns:15</a:t>
            </a:r>
            <a:endParaRPr sz="15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➢"/>
            </a:pPr>
            <a:r>
              <a:rPr lang="en-GB" sz="1550">
                <a:solidFill>
                  <a:schemeClr val="lt1"/>
                </a:solidFill>
                <a:highlight>
                  <a:schemeClr val="dk1"/>
                </a:highlight>
              </a:rPr>
              <a:t>Main Table:Cloud_Usage</a:t>
            </a:r>
            <a:endParaRPr sz="155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➢"/>
            </a:pPr>
            <a:r>
              <a:rPr lang="en-GB" sz="1550">
                <a:solidFill>
                  <a:schemeClr val="lt1"/>
                </a:solidFill>
                <a:highlight>
                  <a:schemeClr val="dk1"/>
                </a:highlight>
              </a:rPr>
              <a:t>Data Type:Cloud resource usage data</a:t>
            </a:r>
            <a:endParaRPr sz="2248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38909" l="12525" r="52858" t="43900"/>
          <a:stretch/>
        </p:blipFill>
        <p:spPr>
          <a:xfrm>
            <a:off x="4906263" y="1462213"/>
            <a:ext cx="3903475" cy="93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32396" l="13074" r="33125" t="36917"/>
          <a:stretch/>
        </p:blipFill>
        <p:spPr>
          <a:xfrm>
            <a:off x="4642650" y="2658213"/>
            <a:ext cx="4430702" cy="166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5">
            <a:alphaModFix/>
          </a:blip>
          <a:srcRect b="73342" l="15166" r="46196" t="18738"/>
          <a:stretch/>
        </p:blipFill>
        <p:spPr>
          <a:xfrm>
            <a:off x="4949075" y="562625"/>
            <a:ext cx="3817877" cy="5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65500" y="559450"/>
            <a:ext cx="4045200" cy="98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980">
                <a:solidFill>
                  <a:schemeClr val="lt1"/>
                </a:solidFill>
                <a:highlight>
                  <a:schemeClr val="dk1"/>
                </a:highlight>
              </a:rPr>
              <a:t>Initial Resource Usage Analysis</a:t>
            </a:r>
            <a:endParaRPr sz="298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80">
              <a:highlight>
                <a:schemeClr val="dk1"/>
              </a:highlight>
            </a:endParaRPr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265500" y="1548250"/>
            <a:ext cx="4045200" cy="2490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Identified available cloud providers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Identified available regio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n</a:t>
            </a: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Identified available VM types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572000" y="125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35450" l="11800" r="50883" t="40538"/>
          <a:stretch/>
        </p:blipFill>
        <p:spPr>
          <a:xfrm>
            <a:off x="4702425" y="262975"/>
            <a:ext cx="3785174" cy="123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 rotWithShape="1">
          <a:blip r:embed="rId4">
            <a:alphaModFix/>
          </a:blip>
          <a:srcRect b="34877" l="12586" r="52874" t="41110"/>
          <a:stretch/>
        </p:blipFill>
        <p:spPr>
          <a:xfrm>
            <a:off x="4816650" y="1661375"/>
            <a:ext cx="3357499" cy="123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5">
            <a:alphaModFix/>
          </a:blip>
          <a:srcRect b="34972" l="12019" r="43743" t="39102"/>
          <a:stretch/>
        </p:blipFill>
        <p:spPr>
          <a:xfrm>
            <a:off x="4702425" y="3059775"/>
            <a:ext cx="404520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08750" y="-73100"/>
            <a:ext cx="4202100" cy="21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80">
                <a:solidFill>
                  <a:schemeClr val="lt1"/>
                </a:solidFill>
                <a:highlight>
                  <a:schemeClr val="dk1"/>
                </a:highlight>
              </a:rPr>
              <a:t>Aggregate Functions</a:t>
            </a:r>
            <a:endParaRPr sz="338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780">
              <a:highlight>
                <a:schemeClr val="lt1"/>
              </a:highlight>
            </a:endParaRPr>
          </a:p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4583075" y="-100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38576" l="12094" r="35138" t="25690"/>
          <a:stretch/>
        </p:blipFill>
        <p:spPr>
          <a:xfrm>
            <a:off x="4649450" y="240200"/>
            <a:ext cx="4311274" cy="18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108750" y="2126850"/>
            <a:ext cx="425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highlight>
                  <a:schemeClr val="dk1"/>
                </a:highlight>
              </a:rPr>
              <a:t>Analysed the minimum, maximum and average CPU and memory usage of cloud resources.</a:t>
            </a:r>
            <a:endParaRPr sz="18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4">
            <a:alphaModFix/>
          </a:blip>
          <a:srcRect b="35509" l="12663" r="50959" t="30358"/>
          <a:stretch/>
        </p:blipFill>
        <p:spPr>
          <a:xfrm>
            <a:off x="4649450" y="2367575"/>
            <a:ext cx="4311274" cy="232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62225" y="285600"/>
            <a:ext cx="4045200" cy="115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Provider Analysis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231025" y="1873550"/>
            <a:ext cx="40452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1948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85"/>
              <a:buChar char="●"/>
            </a:pPr>
            <a:r>
              <a:rPr lang="en-GB" sz="1785">
                <a:solidFill>
                  <a:schemeClr val="lt1"/>
                </a:solidFill>
                <a:highlight>
                  <a:schemeClr val="dk1"/>
                </a:highlight>
              </a:rPr>
              <a:t>Average CPU usage by provider</a:t>
            </a:r>
            <a:endParaRPr sz="178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8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194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85"/>
              <a:buChar char="●"/>
            </a:pPr>
            <a:r>
              <a:rPr lang="en-GB" sz="1785">
                <a:solidFill>
                  <a:schemeClr val="lt1"/>
                </a:solidFill>
                <a:highlight>
                  <a:schemeClr val="dk1"/>
                </a:highlight>
              </a:rPr>
              <a:t>Number of records by Provider</a:t>
            </a:r>
            <a:endParaRPr sz="178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85">
              <a:solidFill>
                <a:schemeClr val="lt1"/>
              </a:solidFill>
            </a:endParaRPr>
          </a:p>
        </p:txBody>
      </p:sp>
      <p:sp>
        <p:nvSpPr>
          <p:cNvPr id="109" name="Google Shape;109;p20"/>
          <p:cNvSpPr txBox="1"/>
          <p:nvPr>
            <p:ph idx="2" type="body"/>
          </p:nvPr>
        </p:nvSpPr>
        <p:spPr>
          <a:xfrm>
            <a:off x="4543500" y="-125"/>
            <a:ext cx="46005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34537" l="13578" r="34716" t="34228"/>
          <a:stretch/>
        </p:blipFill>
        <p:spPr>
          <a:xfrm>
            <a:off x="4623162" y="446275"/>
            <a:ext cx="4441176" cy="160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 rotWithShape="1">
          <a:blip r:embed="rId4">
            <a:alphaModFix/>
          </a:blip>
          <a:srcRect b="35671" l="13921" r="44161" t="35726"/>
          <a:stretch/>
        </p:blipFill>
        <p:spPr>
          <a:xfrm>
            <a:off x="4822150" y="2458800"/>
            <a:ext cx="3832949" cy="14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62200" y="509525"/>
            <a:ext cx="4045200" cy="11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Cost Analysis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idx="1" type="subTitle"/>
          </p:nvPr>
        </p:nvSpPr>
        <p:spPr>
          <a:xfrm>
            <a:off x="414675" y="164832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Average Price by VM type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Average price by provider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Estimated daily cost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18" name="Google Shape;118;p21"/>
          <p:cNvSpPr txBox="1"/>
          <p:nvPr>
            <p:ph idx="2" type="body"/>
          </p:nvPr>
        </p:nvSpPr>
        <p:spPr>
          <a:xfrm>
            <a:off x="4572000" y="-50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3">
            <a:alphaModFix/>
          </a:blip>
          <a:srcRect b="33171" l="12520" r="32204" t="31026"/>
          <a:stretch/>
        </p:blipFill>
        <p:spPr>
          <a:xfrm>
            <a:off x="4902500" y="219950"/>
            <a:ext cx="3878851" cy="13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4">
            <a:alphaModFix/>
          </a:blip>
          <a:srcRect b="31268" l="12091" r="40992" t="24817"/>
          <a:stretch/>
        </p:blipFill>
        <p:spPr>
          <a:xfrm>
            <a:off x="4796000" y="1781450"/>
            <a:ext cx="4045200" cy="16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 rotWithShape="1">
          <a:blip r:embed="rId5">
            <a:alphaModFix/>
          </a:blip>
          <a:srcRect b="36457" l="11679" r="34279" t="33775"/>
          <a:stretch/>
        </p:blipFill>
        <p:spPr>
          <a:xfrm>
            <a:off x="4749200" y="3511025"/>
            <a:ext cx="4156675" cy="13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60825" y="297300"/>
            <a:ext cx="4045200" cy="17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67">
                <a:solidFill>
                  <a:schemeClr val="lt1"/>
                </a:solidFill>
                <a:highlight>
                  <a:schemeClr val="dk1"/>
                </a:highlight>
              </a:rPr>
              <a:t>Utilization Analysis</a:t>
            </a:r>
            <a:endParaRPr sz="3867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265500" y="1954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lt1"/>
                </a:solidFill>
                <a:highlight>
                  <a:schemeClr val="dk1"/>
                </a:highlight>
              </a:rPr>
              <a:t>Provider utilization 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</a:t>
            </a:r>
            <a:endParaRPr/>
          </a:p>
        </p:txBody>
      </p:sp>
      <p:sp>
        <p:nvSpPr>
          <p:cNvPr id="128" name="Google Shape;128;p22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34290" l="11652" r="39450" t="30810"/>
          <a:stretch/>
        </p:blipFill>
        <p:spPr>
          <a:xfrm>
            <a:off x="4682050" y="1251925"/>
            <a:ext cx="4351877" cy="19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265500" y="4062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Region Analysis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192225" y="1753175"/>
            <a:ext cx="40452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613">
                <a:solidFill>
                  <a:schemeClr val="lt1"/>
                </a:solidFill>
                <a:highlight>
                  <a:schemeClr val="dk1"/>
                </a:highlight>
              </a:rPr>
              <a:t>Finding:</a:t>
            </a:r>
            <a:endParaRPr sz="1613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3099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3"/>
              <a:buChar char="●"/>
            </a:pPr>
            <a:r>
              <a:rPr lang="en-GB" sz="1613">
                <a:solidFill>
                  <a:schemeClr val="lt1"/>
                </a:solidFill>
                <a:highlight>
                  <a:schemeClr val="dk1"/>
                </a:highlight>
              </a:rPr>
              <a:t>asia-south has the highest average utilization.</a:t>
            </a:r>
            <a:endParaRPr sz="1613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3099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3"/>
              <a:buChar char="●"/>
            </a:pPr>
            <a:r>
              <a:rPr lang="en-GB" sz="1613">
                <a:solidFill>
                  <a:schemeClr val="lt1"/>
                </a:solidFill>
                <a:highlight>
                  <a:schemeClr val="dk1"/>
                </a:highlight>
              </a:rPr>
              <a:t>asia-south also has the highest average price.</a:t>
            </a:r>
            <a:endParaRPr sz="1613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3099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13"/>
              <a:buChar char="●"/>
            </a:pPr>
            <a:r>
              <a:rPr lang="en-GB" sz="1613">
                <a:solidFill>
                  <a:schemeClr val="lt1"/>
                </a:solidFill>
                <a:highlight>
                  <a:schemeClr val="dk1"/>
                </a:highlight>
              </a:rPr>
              <a:t>us-west has the lowest average price and utilization.</a:t>
            </a:r>
            <a:endParaRPr sz="1613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13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572000" y="0"/>
            <a:ext cx="4572000" cy="509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 rotWithShape="1">
          <a:blip r:embed="rId3">
            <a:alphaModFix/>
          </a:blip>
          <a:srcRect b="34391" l="13643" r="38167" t="19821"/>
          <a:stretch/>
        </p:blipFill>
        <p:spPr>
          <a:xfrm>
            <a:off x="4654687" y="1068938"/>
            <a:ext cx="4406626" cy="23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81775" y="2492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highlight>
                  <a:schemeClr val="dk1"/>
                </a:highlight>
              </a:rPr>
              <a:t>Top Expensive Resources</a:t>
            </a:r>
            <a:endParaRPr sz="3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234125" y="2131100"/>
            <a:ext cx="4045200" cy="12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570">
                <a:solidFill>
                  <a:schemeClr val="lt1"/>
                </a:solidFill>
                <a:highlight>
                  <a:schemeClr val="dk1"/>
                </a:highlight>
              </a:rPr>
              <a:t>Finding:</a:t>
            </a:r>
            <a:endParaRPr sz="157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57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GB" sz="1815">
                <a:solidFill>
                  <a:schemeClr val="lt1"/>
                </a:solidFill>
                <a:highlight>
                  <a:schemeClr val="dk1"/>
                </a:highlight>
              </a:rPr>
              <a:t>The top 10 highest-price records are all from the n1-standard-1 VM type</a:t>
            </a:r>
            <a:endParaRPr sz="1815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70"/>
          </a:p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4583076" y="0"/>
            <a:ext cx="4572000" cy="505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 rotWithShape="1">
          <a:blip r:embed="rId3">
            <a:alphaModFix/>
          </a:blip>
          <a:srcRect b="31786" l="13644" r="47782" t="20595"/>
          <a:stretch/>
        </p:blipFill>
        <p:spPr>
          <a:xfrm>
            <a:off x="4743650" y="776650"/>
            <a:ext cx="4139400" cy="303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265500" y="399850"/>
            <a:ext cx="4045200" cy="170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480">
                <a:solidFill>
                  <a:schemeClr val="lt1"/>
                </a:solidFill>
                <a:highlight>
                  <a:schemeClr val="dk1"/>
                </a:highlight>
              </a:rPr>
              <a:t>Underutilized Resources</a:t>
            </a:r>
            <a:endParaRPr sz="348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480"/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213150" y="21059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828">
                <a:solidFill>
                  <a:schemeClr val="lt1"/>
                </a:solidFill>
                <a:highlight>
                  <a:schemeClr val="dk1"/>
                </a:highlight>
              </a:rPr>
              <a:t>Threshold used:Less Than 40%</a:t>
            </a:r>
            <a:endParaRPr sz="1828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828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828">
                <a:solidFill>
                  <a:schemeClr val="lt1"/>
                </a:solidFill>
                <a:highlight>
                  <a:schemeClr val="dk1"/>
                </a:highlight>
              </a:rPr>
              <a:t>Finding:</a:t>
            </a:r>
            <a:endParaRPr sz="1828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828">
                <a:solidFill>
                  <a:schemeClr val="lt1"/>
                </a:solidFill>
                <a:highlight>
                  <a:schemeClr val="dk1"/>
                </a:highlight>
              </a:rPr>
              <a:t>Several resources have utilization below 40% while still having an hourly cost</a:t>
            </a:r>
            <a:endParaRPr sz="1828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52" name="Google Shape;152;p25"/>
          <p:cNvSpPr txBox="1"/>
          <p:nvPr>
            <p:ph idx="2" type="body"/>
          </p:nvPr>
        </p:nvSpPr>
        <p:spPr>
          <a:xfrm>
            <a:off x="4639000" y="0"/>
            <a:ext cx="45051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 rotWithShape="1">
          <a:blip r:embed="rId3">
            <a:alphaModFix/>
          </a:blip>
          <a:srcRect b="32640" l="13076" r="40108" t="19621"/>
          <a:stretch/>
        </p:blipFill>
        <p:spPr>
          <a:xfrm>
            <a:off x="4639000" y="1360725"/>
            <a:ext cx="4426502" cy="256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265500" y="542350"/>
            <a:ext cx="4045200" cy="10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chemeClr val="lt1"/>
                </a:solidFill>
                <a:highlight>
                  <a:schemeClr val="dk1"/>
                </a:highlight>
              </a:rPr>
              <a:t>Underutilized by Provider &amp; VM</a:t>
            </a:r>
            <a:endParaRPr sz="33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181750" y="2227400"/>
            <a:ext cx="41955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Finding: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Azure has the highest number of underutilized records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t2.micro has the highest number of underutilized records.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60" name="Google Shape;160;p26"/>
          <p:cNvSpPr txBox="1"/>
          <p:nvPr>
            <p:ph idx="2" type="body"/>
          </p:nvPr>
        </p:nvSpPr>
        <p:spPr>
          <a:xfrm>
            <a:off x="4572000" y="-125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 rotWithShape="1">
          <a:blip r:embed="rId3">
            <a:alphaModFix/>
          </a:blip>
          <a:srcRect b="35853" l="13533" r="49998" t="22061"/>
          <a:stretch/>
        </p:blipFill>
        <p:spPr>
          <a:xfrm>
            <a:off x="4712275" y="152825"/>
            <a:ext cx="4249598" cy="233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 rotWithShape="1">
          <a:blip r:embed="rId4">
            <a:alphaModFix/>
          </a:blip>
          <a:srcRect b="33653" l="12891" r="47273" t="18889"/>
          <a:stretch/>
        </p:blipFill>
        <p:spPr>
          <a:xfrm>
            <a:off x="4822475" y="2571750"/>
            <a:ext cx="4045200" cy="244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265500" y="4481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chemeClr val="lt1"/>
                </a:solidFill>
                <a:highlight>
                  <a:schemeClr val="dk1"/>
                </a:highlight>
              </a:rPr>
              <a:t>High Cost + Low Utilization</a:t>
            </a:r>
            <a:endParaRPr sz="33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68" name="Google Shape;168;p27"/>
          <p:cNvSpPr txBox="1"/>
          <p:nvPr>
            <p:ph idx="1" type="subTitle"/>
          </p:nvPr>
        </p:nvSpPr>
        <p:spPr>
          <a:xfrm>
            <a:off x="265500" y="24157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728">
                <a:solidFill>
                  <a:schemeClr val="lt1"/>
                </a:solidFill>
                <a:highlight>
                  <a:schemeClr val="dk1"/>
                </a:highlight>
              </a:rPr>
              <a:t>Finding:</a:t>
            </a:r>
            <a:endParaRPr sz="1728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728">
                <a:solidFill>
                  <a:schemeClr val="lt1"/>
                </a:solidFill>
                <a:highlight>
                  <a:schemeClr val="dk1"/>
                </a:highlight>
              </a:rPr>
              <a:t>Several n1-standard-1 resources have:</a:t>
            </a:r>
            <a:endParaRPr sz="1728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3829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28"/>
              <a:buChar char="●"/>
            </a:pPr>
            <a:r>
              <a:rPr lang="en-GB" sz="1728">
                <a:solidFill>
                  <a:schemeClr val="lt1"/>
                </a:solidFill>
                <a:highlight>
                  <a:schemeClr val="dk1"/>
                </a:highlight>
              </a:rPr>
              <a:t>High hourly price</a:t>
            </a:r>
            <a:endParaRPr sz="1728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3829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28"/>
              <a:buChar char="●"/>
            </a:pPr>
            <a:r>
              <a:rPr lang="en-GB" sz="1728">
                <a:solidFill>
                  <a:schemeClr val="lt1"/>
                </a:solidFill>
                <a:highlight>
                  <a:schemeClr val="dk1"/>
                </a:highlight>
              </a:rPr>
              <a:t>Low resource utilization</a:t>
            </a:r>
            <a:endParaRPr sz="1728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69" name="Google Shape;169;p27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31983" l="13352" r="40061" t="17307"/>
          <a:stretch/>
        </p:blipFill>
        <p:spPr>
          <a:xfrm>
            <a:off x="4670375" y="1262325"/>
            <a:ext cx="4417099" cy="276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265500" y="724075"/>
            <a:ext cx="40452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80">
                <a:solidFill>
                  <a:schemeClr val="lt1"/>
                </a:solidFill>
                <a:highlight>
                  <a:schemeClr val="dk1"/>
                </a:highlight>
              </a:rPr>
              <a:t>High Cost + Low utilization by provider</a:t>
            </a:r>
            <a:endParaRPr sz="308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6" name="Google Shape;176;p28"/>
          <p:cNvSpPr txBox="1"/>
          <p:nvPr>
            <p:ph idx="1" type="subTitle"/>
          </p:nvPr>
        </p:nvSpPr>
        <p:spPr>
          <a:xfrm>
            <a:off x="265500" y="2394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Finding: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Azure has the highest number of high-cost,low utilization records -32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7" name="Google Shape;177;p28"/>
          <p:cNvSpPr txBox="1"/>
          <p:nvPr>
            <p:ph idx="2" type="body"/>
          </p:nvPr>
        </p:nvSpPr>
        <p:spPr>
          <a:xfrm>
            <a:off x="4572000" y="-125"/>
            <a:ext cx="45261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34023" l="12845" r="50000" t="22674"/>
          <a:stretch/>
        </p:blipFill>
        <p:spPr>
          <a:xfrm>
            <a:off x="4670375" y="1186975"/>
            <a:ext cx="4144949" cy="263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192250" y="7240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lt1"/>
                </a:solidFill>
                <a:highlight>
                  <a:schemeClr val="dk1"/>
                </a:highlight>
              </a:rPr>
              <a:t>Performance Analysis</a:t>
            </a:r>
            <a:endParaRPr sz="34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4" name="Google Shape;184;p29"/>
          <p:cNvSpPr txBox="1"/>
          <p:nvPr>
            <p:ph idx="1" type="subTitle"/>
          </p:nvPr>
        </p:nvSpPr>
        <p:spPr>
          <a:xfrm>
            <a:off x="265500" y="25204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highlight>
                  <a:schemeClr val="dk1"/>
                </a:highlight>
              </a:rPr>
              <a:t>Finding: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highlight>
                  <a:schemeClr val="dk1"/>
                </a:highlight>
              </a:rPr>
              <a:t>AWS has the lowest average latency and highest average throughput in the dataset</a:t>
            </a:r>
            <a:endParaRPr sz="17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5" name="Google Shape;185;p29"/>
          <p:cNvSpPr txBox="1"/>
          <p:nvPr>
            <p:ph idx="2" type="body"/>
          </p:nvPr>
        </p:nvSpPr>
        <p:spPr>
          <a:xfrm>
            <a:off x="4572000" y="0"/>
            <a:ext cx="4572000" cy="44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 rotWithShape="1">
          <a:blip r:embed="rId3">
            <a:alphaModFix/>
          </a:blip>
          <a:srcRect b="35451" l="12959" r="53659" t="23076"/>
          <a:stretch/>
        </p:blipFill>
        <p:spPr>
          <a:xfrm>
            <a:off x="4764600" y="831075"/>
            <a:ext cx="4045200" cy="276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265500" y="9714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Joins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 txBox="1"/>
          <p:nvPr>
            <p:ph idx="1" type="subTitle"/>
          </p:nvPr>
        </p:nvSpPr>
        <p:spPr>
          <a:xfrm>
            <a:off x="265500" y="2310300"/>
            <a:ext cx="4045200" cy="2454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813">
                <a:solidFill>
                  <a:schemeClr val="lt1"/>
                </a:solidFill>
                <a:highlight>
                  <a:schemeClr val="dk1"/>
                </a:highlight>
              </a:rPr>
              <a:t>I created a separate cloud_providers table and used INNER JOIN to connect it with my main cloud_usage table using the common cloud_provider column. This allows me to combine provider information with the resource pricing data. </a:t>
            </a:r>
            <a:endParaRPr sz="1813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93" name="Google Shape;193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 rotWithShape="1">
          <a:blip r:embed="rId3">
            <a:alphaModFix/>
          </a:blip>
          <a:srcRect b="24121" l="11827" r="55166" t="28162"/>
          <a:stretch/>
        </p:blipFill>
        <p:spPr>
          <a:xfrm>
            <a:off x="4638400" y="545150"/>
            <a:ext cx="4219502" cy="394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Key Findings 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AWS has the highest average price per hour.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Azure has the lowest average price per hour.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AWS has the highest average resource utilization.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n1-standard-1 is the most expensive VM type.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B1s has the highest average utilization.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Some resources have utilization below 40%.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Azure has 32 high-cost, low-utilization records.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-GB" sz="1900">
                <a:solidFill>
                  <a:schemeClr val="lt1"/>
                </a:solidFill>
                <a:highlight>
                  <a:schemeClr val="dk1"/>
                </a:highlight>
              </a:rPr>
              <a:t>AWS shows the best network performance based on latency and throughput.</a:t>
            </a:r>
            <a:endParaRPr sz="19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Conclusion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highlight>
                  <a:schemeClr val="dk1"/>
                </a:highlight>
              </a:rPr>
              <a:t>This project demonstrates how MySQL can be used to analyze cloud resource usage, cost and performance.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highlight>
                  <a:schemeClr val="dk1"/>
                </a:highlight>
              </a:rPr>
              <a:t>SQL queries helped compare cloud providers, regions and VM types.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highlight>
                  <a:schemeClr val="dk1"/>
                </a:highlight>
              </a:rPr>
              <a:t>The analysis identified high-cost and underutilized resources.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highlight>
                  <a:schemeClr val="dk1"/>
                </a:highlight>
              </a:rPr>
              <a:t>These findings can help organizations identify possible opportunities for cloud cost optimization.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